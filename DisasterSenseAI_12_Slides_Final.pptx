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534AB7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Keyword</c:v>
                </c:pt>
                <c:pt idx="1">
                  <c:v>Location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2534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>
                  <a:solidFill>
                    <a:srgbClr val="27364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7364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in val="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758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7364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Non-disaster</c:v>
                </c:pt>
              </c:strCache>
            </c:strRef>
          </c:tx>
          <c:spPr>
            <a:solidFill>
              <a:srgbClr val="534AB7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0–39</c:v>
                </c:pt>
                <c:pt idx="1">
                  <c:v>40–79</c:v>
                </c:pt>
                <c:pt idx="2">
                  <c:v>80–119</c:v>
                </c:pt>
                <c:pt idx="3">
                  <c:v>120–159</c:v>
                </c:pt>
                <c:pt idx="4">
                  <c:v>160+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0.08613542146476279</c:v>
                </c:pt>
                <c:pt idx="1">
                  <c:v>0.24596959926301243</c:v>
                </c:pt>
                <c:pt idx="2">
                  <c:v>0.3136803316444035</c:v>
                </c:pt>
                <c:pt idx="3">
                  <c:v>0.35168125287885765</c:v>
                </c:pt>
                <c:pt idx="4">
                  <c:v>0.002533394748963611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Disaster</c:v>
                </c:pt>
              </c:strCache>
            </c:strRef>
          </c:tx>
          <c:spPr>
            <a:solidFill>
              <a:srgbClr val="1D9E75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0–39</c:v>
                </c:pt>
                <c:pt idx="1">
                  <c:v>40–79</c:v>
                </c:pt>
                <c:pt idx="2">
                  <c:v>80–119</c:v>
                </c:pt>
                <c:pt idx="3">
                  <c:v>120–159</c:v>
                </c:pt>
                <c:pt idx="4">
                  <c:v>160+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0.022928767960868235</c:v>
                </c:pt>
                <c:pt idx="1">
                  <c:v>0.15622133904004892</c:v>
                </c:pt>
                <c:pt idx="2">
                  <c:v>0.36258025068786304</c:v>
                </c:pt>
                <c:pt idx="3">
                  <c:v>0.4555181901559156</c:v>
                </c:pt>
                <c:pt idx="4">
                  <c:v>0.0027514521553041885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300">
                  <a:solidFill>
                    <a:srgbClr val="27364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7364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0.55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758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solidFill>
            <a:srgbClr val="27364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534AB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Word</c:v>
                </c:pt>
                <c:pt idx="1">
                  <c:v>+ structure</c:v>
                </c:pt>
                <c:pt idx="2">
                  <c:v>+ character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0.73364760801188</c:v>
                </c:pt>
                <c:pt idx="1">
                  <c:v>0.7347259482957047</c:v>
                </c:pt>
                <c:pt idx="2">
                  <c:v>0.7529986053238477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300">
                  <a:solidFill>
                    <a:srgbClr val="27364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7364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"/>
      </c:catAx>
      <c:valAx>
        <c:axId val="-2113994440"/>
        <c:scaling>
          <c:max val="1.0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758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7364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Project source and saved evaluation.json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Project source and saved evaluation.json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Source workbook and evaluation.json dataset metadata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Workbook missing values and length_distribution.json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src/preprocessing.py::clean_text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Fitted model.joblib; preprocessing.py; evaluation.json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src/model_training.py; saved seed-42 evaluation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evaluation.json: six candidates, same saved experiment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evaluation.json selected model confusion matrix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app.py; src/ui.py; actual unchanged dashboard capture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Verified saved-model holdout predictions: IDs 6 and 24; evaluation.json limitations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Project source and saved evaluation.json</a:t>
            </a:r>
          </a:p>
          <a:p>
            <a:r>
              <a:t>Project root: C:\Users\nites\Documents\Codex\2026-10-15\files-mentioned-by-the-user-project\outputs\DisasterSenseAI</a:t>
            </a:r>
          </a:p>
          <a:p>
            <a:r>
              <a:t>Saved experiment: seed 42, 6,142 train rows, 1,471 holdout rows, 3-fold grouped training CV. Future work is explicitly 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D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66758A"/>
                </a:solidFill>
                <a:latin typeface="Segoe UI"/>
              </a:defRPr>
            </a:pPr>
          </a:p>
        </p:txBody>
      </p:sp>
      <p:sp>
        <p:nvSpPr>
          <p:cNvPr id="4" name="Slide title"/>
          <p:cNvSpPr txBox="1"/>
          <p:nvPr/>
        </p:nvSpPr>
        <p:spPr>
          <a:xfrm>
            <a:off x="658368" y="1828800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4400" b="1">
                <a:solidFill>
                  <a:srgbClr val="26215C"/>
                </a:solidFill>
                <a:latin typeface="Segoe UI"/>
              </a:defRPr>
            </a:pPr>
            <a:r>
              <a:t>DisasterSenseAI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6032"/>
            <a:ext cx="182880" cy="182880"/>
          </a:xfrm>
          <a:prstGeom prst="roundRect">
            <a:avLst>
              <a:gd name="adj" fmla="val 6000"/>
            </a:avLst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941832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100" b="1">
                <a:solidFill>
                  <a:srgbClr val="26215C"/>
                </a:solidFill>
                <a:latin typeface="Segoe UI"/>
              </a:defRPr>
            </a:pPr>
            <a:r>
              <a:t>DISASTERSENSEAI</a:t>
            </a:r>
          </a:p>
        </p:txBody>
      </p:sp>
      <p:sp>
        <p:nvSpPr>
          <p:cNvPr id="10" name="Oval 9"/>
          <p:cNvSpPr/>
          <p:nvPr/>
        </p:nvSpPr>
        <p:spPr>
          <a:xfrm>
            <a:off x="9235440" y="594360"/>
            <a:ext cx="2286000" cy="228600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0" y="4343400"/>
            <a:ext cx="1371600" cy="1371600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3657600"/>
            <a:ext cx="502920" cy="50292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658368" y="2907792"/>
            <a:ext cx="8138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700" b="0">
                <a:solidFill>
                  <a:srgbClr val="26215C"/>
                </a:solidFill>
                <a:latin typeface="Segoe UI"/>
              </a:defRPr>
            </a:pPr>
            <a:r>
              <a:t>AI-Powered Disaster Tweet Classification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2700" b="0">
                <a:solidFill>
                  <a:srgbClr val="26215C"/>
                </a:solidFill>
                <a:latin typeface="Segoe UI"/>
              </a:defRPr>
            </a:pPr>
            <a:r>
              <a:t>Using NLP and Machine Learning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58368" y="4892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66758A"/>
                </a:solidFill>
                <a:latin typeface="Segoe UI"/>
              </a:defRPr>
            </a:pPr>
            <a:r>
              <a:t>Presented by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58368" y="5376672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500" b="1">
                <a:solidFill>
                  <a:srgbClr val="26215C"/>
                </a:solidFill>
                <a:latin typeface="Segoe UI"/>
              </a:defRPr>
            </a:pPr>
            <a:r>
              <a:t>Nitesh Ramdas Dahiwale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EEDFE"/>
                </a:solidFill>
              </a:defRPr>
            </a:pPr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EEEDFE"/>
                </a:solidFill>
                <a:latin typeface="Segoe UI"/>
              </a:defRPr>
            </a:pP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EEEDFE"/>
                </a:solidFill>
                <a:latin typeface="Segoe UI"/>
              </a:defRPr>
            </a:pPr>
            <a:r>
              <a:t>Disaster language needs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6032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941832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DISASTERSENSEAI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13232" y="16916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900" b="1">
                <a:solidFill>
                  <a:srgbClr val="FFFFFF"/>
                </a:solidFill>
                <a:latin typeface="Segoe UI"/>
              </a:defRPr>
            </a:pPr>
            <a:r>
              <a:t>The same word can describe an emergency,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2900" b="1">
                <a:solidFill>
                  <a:srgbClr val="FFFFFF"/>
                </a:solidFill>
                <a:latin typeface="Segoe UI"/>
              </a:defRPr>
            </a:pPr>
            <a:r>
              <a:t>a metaphor or casual conversation.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13232" y="297180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0">
                <a:solidFill>
                  <a:srgbClr val="EEEDFE"/>
                </a:solidFill>
                <a:latin typeface="Segoe UI"/>
              </a:defRPr>
            </a:pPr>
            <a:r>
              <a:t>Objective: classify historical tweets and make the evidence reviewable.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11480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914400" y="431596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Explore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914400" y="4864608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Class balance, text patterns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and missing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11480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4636007" y="431596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Compare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636007" y="4864608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TF-IDF features and models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with grouped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4114800"/>
            <a:ext cx="3337560" cy="1508760"/>
          </a:xfrm>
          <a:prstGeom prst="roundRect">
            <a:avLst>
              <a:gd name="adj" fmla="val 6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8357616" y="431596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300" b="1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8357616" y="4864608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Single and batch predictions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with explanations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EEEDFE"/>
                </a:solidFill>
                <a:latin typeface="Segoe UI"/>
              </a:defRPr>
            </a:pPr>
            <a:r>
              <a:t>A model label describes language. Human review must verify incident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66758A"/>
                </a:solidFill>
                <a:latin typeface="Segoe UI"/>
              </a:defRPr>
            </a:pPr>
            <a:r>
              <a:t>03 / EVIDENCE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26215C"/>
                </a:solidFill>
                <a:latin typeface="Segoe UI"/>
              </a:defRPr>
            </a:pPr>
            <a:r>
              <a:t>The dataset at a glance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54480"/>
            <a:ext cx="4663440" cy="4343400"/>
          </a:xfrm>
          <a:prstGeom prst="rect">
            <a:avLst/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2120" y="1554480"/>
            <a:ext cx="5989320" cy="20574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32120" y="3840480"/>
            <a:ext cx="5989320" cy="20574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987552" y="19202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 b="1">
                <a:solidFill>
                  <a:srgbClr val="26215C"/>
                </a:solidFill>
                <a:latin typeface="Segoe UI"/>
              </a:defRPr>
            </a:pPr>
            <a:r>
              <a:t>HISTORICAL TWEETS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987552" y="297180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4800" b="1">
                <a:solidFill>
                  <a:srgbClr val="26215C"/>
                </a:solidFill>
                <a:latin typeface="Segoe UI"/>
              </a:defRPr>
            </a:pPr>
            <a:r>
              <a:t>7,613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987552" y="4160520"/>
            <a:ext cx="3931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26215C"/>
                </a:solidFill>
                <a:latin typeface="Segoe UI"/>
              </a:defRPr>
            </a:pPr>
            <a:r>
              <a:t>5 fields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26215C"/>
                </a:solidFill>
                <a:latin typeface="Segoe UI"/>
              </a:defRPr>
            </a:pPr>
            <a:r>
              <a:t>id, keyword, location,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26215C"/>
                </a:solidFill>
                <a:latin typeface="Segoe UI"/>
              </a:defRPr>
            </a:pPr>
            <a:r>
              <a:t>text and target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870448" y="1874519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100" b="1">
                <a:solidFill>
                  <a:srgbClr val="FFFFFF"/>
                </a:solidFill>
                <a:latin typeface="Segoe UI"/>
              </a:defRPr>
            </a:pPr>
            <a:r>
              <a:t>4,342  non-disaster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870448" y="274320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 b="0">
                <a:solidFill>
                  <a:srgbClr val="EEEDFE"/>
                </a:solidFill>
                <a:latin typeface="Segoe UI"/>
              </a:defRPr>
            </a:pPr>
            <a:r>
              <a:t>57.0% of labeled tweets · target 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870448" y="41605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100" b="1">
                <a:solidFill>
                  <a:srgbClr val="FFFFFF"/>
                </a:solidFill>
                <a:latin typeface="Segoe UI"/>
              </a:defRPr>
            </a:pPr>
            <a:r>
              <a:t>3,271  disaster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870448" y="502920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 b="0">
                <a:solidFill>
                  <a:srgbClr val="FFFFFF"/>
                </a:solidFill>
                <a:latin typeface="Segoe UI"/>
              </a:defRPr>
            </a:pPr>
            <a:r>
              <a:t>43.0% of labeled tweets · target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2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66758A"/>
                </a:solidFill>
                <a:latin typeface="Segoe UI"/>
              </a:defRPr>
            </a:pPr>
            <a:r>
              <a:t>04 / EXPLORATORY ANALYSIS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26215C"/>
                </a:solidFill>
                <a:latin typeface="Segoe UI"/>
              </a:defRPr>
            </a:pPr>
            <a:r>
              <a:t>EDA: missing metadata and tweet length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58368" y="164592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1">
                <a:solidFill>
                  <a:srgbClr val="26215C"/>
                </a:solidFill>
                <a:latin typeface="Segoe UI"/>
              </a:defRPr>
            </a:pPr>
            <a:r>
              <a:t>Missing metadata (rows)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" y="2148840"/>
          <a:ext cx="402336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"/>
          <p:cNvSpPr txBox="1"/>
          <p:nvPr/>
        </p:nvSpPr>
        <p:spPr>
          <a:xfrm>
            <a:off x="5166360" y="1645920"/>
            <a:ext cx="6355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1">
                <a:solidFill>
                  <a:srgbClr val="26215C"/>
                </a:solidFill>
                <a:latin typeface="Segoe UI"/>
              </a:defRPr>
            </a:pPr>
            <a:r>
              <a:t>Length (characters; % within class)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166360" y="2148840"/>
          <a:ext cx="6355080" cy="30632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"/>
          <p:cNvSpPr txBox="1"/>
          <p:nvPr/>
        </p:nvSpPr>
        <p:spPr>
          <a:xfrm>
            <a:off x="731520" y="523036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110 repeated raw texts. Text and target fields contain no missing values.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715000"/>
            <a:ext cx="10863072" cy="448056"/>
          </a:xfrm>
          <a:prstGeom prst="rect">
            <a:avLst/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26215C"/>
                </a:solidFill>
                <a:latin typeface="Segoe UI"/>
              </a:defRPr>
            </a:pPr>
            <a:r>
              <a:t>Disaster tweets average 108.8 characters, compared with 96.3 for non-disaster tweets.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66758A"/>
                </a:solidFill>
                <a:latin typeface="Segoe UI"/>
              </a:defRPr>
            </a:pPr>
            <a:r>
              <a:t>05 / NLP PROCESSING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26215C"/>
                </a:solidFill>
                <a:latin typeface="Segoe UI"/>
              </a:defRPr>
            </a:pPr>
            <a:r>
              <a:t>Preprocessing preserves useful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45920"/>
            <a:ext cx="51663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877824" y="1847088"/>
            <a:ext cx="47274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200" b="1">
                <a:solidFill>
                  <a:srgbClr val="26215C"/>
                </a:solidFill>
                <a:latin typeface="Segoe UI"/>
              </a:defRPr>
            </a:pPr>
            <a:r>
              <a:t>Raw text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77824" y="2560320"/>
            <a:ext cx="472744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 b="0">
                <a:solidFill>
                  <a:srgbClr val="27364B"/>
                </a:solidFill>
                <a:latin typeface="Segoe UI"/>
              </a:defRPr>
            </a:pPr>
            <a:r>
              <a:t>@rescue I can't reach home! #Flood https://example.com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03520" cy="1645920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 txBox="1"/>
          <p:nvPr/>
        </p:nvSpPr>
        <p:spPr>
          <a:xfrm>
            <a:off x="6437376" y="1847088"/>
            <a:ext cx="486460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200" b="1">
                <a:solidFill>
                  <a:srgbClr val="26215C"/>
                </a:solidFill>
                <a:latin typeface="Segoe UI"/>
              </a:defRPr>
            </a:pPr>
            <a:r>
              <a:t>Cleaned text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437376" y="2560320"/>
            <a:ext cx="486460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 b="0">
                <a:solidFill>
                  <a:srgbClr val="27364B"/>
                </a:solidFill>
                <a:latin typeface="Segoe UI"/>
              </a:defRPr>
            </a:pPr>
            <a:r>
              <a:t>i cannot reach home flood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03320"/>
            <a:ext cx="3456432" cy="1874519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7" y="3858768"/>
            <a:ext cx="320040" cy="320040"/>
          </a:xfrm>
          <a:prstGeom prst="ellipse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941832" y="388620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41247" y="4389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1">
                <a:solidFill>
                  <a:srgbClr val="26215C"/>
                </a:solidFill>
                <a:latin typeface="Segoe UI"/>
              </a:defRPr>
            </a:pPr>
            <a:r>
              <a:t>Normalize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41247" y="489204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27364B"/>
                </a:solidFill>
                <a:latin typeface="Segoe UI"/>
              </a:defRPr>
            </a:pPr>
            <a:r>
              <a:t>Decode HTML and lowercase.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3703320"/>
            <a:ext cx="3456432" cy="1874519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3858768"/>
            <a:ext cx="320040" cy="32004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4645151" y="388620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4544568" y="4389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1">
                <a:solidFill>
                  <a:srgbClr val="26215C"/>
                </a:solidFill>
                <a:latin typeface="Segoe UI"/>
              </a:defRPr>
            </a:pPr>
            <a:r>
              <a:t>Keep negation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544568" y="489204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27364B"/>
                </a:solidFill>
                <a:latin typeface="Segoe UI"/>
              </a:defRPr>
            </a:pPr>
            <a:r>
              <a:t>Expand “can’t” to “cannot”.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703320"/>
            <a:ext cx="3456432" cy="1874519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47888" y="3858768"/>
            <a:ext cx="320040" cy="32004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8348472" y="388620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247888" y="43891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1">
                <a:solidFill>
                  <a:srgbClr val="26215C"/>
                </a:solidFill>
                <a:latin typeface="Segoe UI"/>
              </a:defRPr>
            </a:pPr>
            <a:r>
              <a:t>Remove noise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47888" y="489204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27364B"/>
                </a:solidFill>
                <a:latin typeface="Segoe UI"/>
              </a:defRPr>
            </a:pPr>
            <a:r>
              <a:t>Remove URLs, mentions, symbols and extra spaces.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715000"/>
            <a:ext cx="10863072" cy="448056"/>
          </a:xfrm>
          <a:prstGeom prst="rect">
            <a:avLst/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26215C"/>
                </a:solidFill>
                <a:latin typeface="Segoe UI"/>
              </a:defRPr>
            </a:pPr>
            <a:r>
              <a:t>Illustrative input, actual cleaning rules. Raw text remains available to the structural feature branch.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66758A"/>
                </a:solidFill>
                <a:latin typeface="Segoe UI"/>
              </a:defRPr>
            </a:pPr>
            <a:r>
              <a:t>06 / TF-IDF AND STRUCTURAL FEATURES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26215C"/>
                </a:solidFill>
                <a:latin typeface="Segoe UI"/>
              </a:defRPr>
            </a:pPr>
            <a:r>
              <a:t>Feature engineering adds character context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31520" y="16916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700" b="1">
                <a:solidFill>
                  <a:srgbClr val="26215C"/>
                </a:solidFill>
                <a:latin typeface="Segoe UI"/>
              </a:defRPr>
            </a:pPr>
            <a:r>
              <a:t>33,809 fitted features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31520" y="2514600"/>
            <a:ext cx="4480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900" b="0">
                <a:solidFill>
                  <a:srgbClr val="27364B"/>
                </a:solidFill>
                <a:latin typeface="Segoe UI"/>
              </a:defRPr>
            </a:pPr>
            <a:r>
              <a:t>13,809 word features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 b="0">
                <a:solidFill>
                  <a:srgbClr val="27364B"/>
                </a:solidFill>
                <a:latin typeface="Segoe UI"/>
              </a:defRPr>
            </a:pPr>
            <a:r>
              <a:t>Unigrams and bigrams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 b="0">
                <a:solidFill>
                  <a:srgbClr val="27364B"/>
                </a:solidFill>
                <a:latin typeface="Segoe UI"/>
              </a:defRPr>
            </a:pPr>
            <a:r>
              <a:t>20,000 character features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900" b="0">
                <a:solidFill>
                  <a:srgbClr val="27364B"/>
                </a:solidFill>
                <a:latin typeface="Segoe UI"/>
              </a:defRPr>
            </a:pPr>
            <a:r>
              <a:t>Word-boundary 3–5 grams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31520" y="438912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Alternative structural inputs: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length, words, hashtags, mentions and exclamations; scaled and capped at 3.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5486400" y="169164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1">
                <a:solidFill>
                  <a:srgbClr val="26215C"/>
                </a:solidFill>
                <a:latin typeface="Segoe UI"/>
              </a:defRPr>
            </a:pPr>
            <a:r>
              <a:t>Logistic variants: grouped CV F1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0" y="2194560"/>
          <a:ext cx="603504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ectangle 12"/>
          <p:cNvSpPr/>
          <p:nvPr/>
        </p:nvSpPr>
        <p:spPr>
          <a:xfrm>
            <a:off x="658368" y="5715000"/>
            <a:ext cx="10863072" cy="448056"/>
          </a:xfrm>
          <a:prstGeom prst="rect">
            <a:avLst/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26215C"/>
                </a:solidFill>
                <a:latin typeface="Segoe UI"/>
              </a:defRPr>
            </a:pPr>
            <a:r>
              <a:t>Character features improve grouped CV F1 by 1.94 percentage points over word-only logistic.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66758A"/>
                </a:solidFill>
                <a:latin typeface="Segoe UI"/>
              </a:defRPr>
            </a:pPr>
            <a:r>
              <a:t>07 / ARCHITECTURE AND VALIDATION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26215C"/>
                </a:solidFill>
                <a:latin typeface="Segoe UI"/>
              </a:defRPr>
            </a:pPr>
            <a:r>
              <a:t>A reproducible pipeline supports fair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813816" y="1947672"/>
            <a:ext cx="21122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000" b="1">
                <a:solidFill>
                  <a:srgbClr val="26215C"/>
                </a:solidFill>
                <a:latin typeface="Segoe UI"/>
              </a:defRPr>
            </a:pPr>
            <a:r>
              <a:t>Tweet text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13816" y="251460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27364B"/>
                </a:solidFill>
                <a:latin typeface="Segoe UI"/>
              </a:defRPr>
            </a:pPr>
            <a:r>
              <a:t>Original message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18104" y="2491740"/>
            <a:ext cx="274320" cy="0"/>
          </a:xfrm>
          <a:prstGeom prst="line">
            <a:avLst/>
          </a:prstGeom>
          <a:ln w="19050">
            <a:solidFill>
              <a:srgbClr val="534A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47288" y="1783080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602736" y="1947672"/>
            <a:ext cx="21122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000" b="1">
                <a:solidFill>
                  <a:srgbClr val="26215C"/>
                </a:solidFill>
                <a:latin typeface="Segoe UI"/>
              </a:defRPr>
            </a:pPr>
            <a:r>
              <a:t>TF-IDF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602736" y="251460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27364B"/>
                </a:solidFill>
                <a:latin typeface="Segoe UI"/>
              </a:defRPr>
            </a:pPr>
            <a:r>
              <a:t>Word + character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07024" y="2491740"/>
            <a:ext cx="274320" cy="0"/>
          </a:xfrm>
          <a:prstGeom prst="line">
            <a:avLst/>
          </a:prstGeom>
          <a:ln w="19050">
            <a:solidFill>
              <a:srgbClr val="534A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6208" y="1783080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6391656" y="1947672"/>
            <a:ext cx="21122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000" b="1">
                <a:solidFill>
                  <a:srgbClr val="26215C"/>
                </a:solidFill>
                <a:latin typeface="Segoe UI"/>
              </a:defRPr>
            </a:pPr>
            <a:r>
              <a:t>Logistic model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391656" y="251460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27364B"/>
                </a:solidFill>
                <a:latin typeface="Segoe UI"/>
              </a:defRPr>
            </a:pPr>
            <a:r>
              <a:t>Selected C = 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95944" y="2491740"/>
            <a:ext cx="274320" cy="0"/>
          </a:xfrm>
          <a:prstGeom prst="line">
            <a:avLst/>
          </a:prstGeom>
          <a:ln w="19050">
            <a:solidFill>
              <a:srgbClr val="534AB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5128" y="1783080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9180576" y="1947672"/>
            <a:ext cx="21122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000" b="1">
                <a:solidFill>
                  <a:srgbClr val="26215C"/>
                </a:solidFill>
                <a:latin typeface="Segoe UI"/>
              </a:defRPr>
            </a:pPr>
            <a:r>
              <a:t>Prediction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9180576" y="251460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27364B"/>
                </a:solidFill>
                <a:latin typeface="Segoe UI"/>
              </a:defRPr>
            </a:pPr>
            <a:r>
              <a:t>Label for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600"/>
            <a:ext cx="3456432" cy="1261872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859536" y="3794760"/>
            <a:ext cx="305409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300" b="1">
                <a:solidFill>
                  <a:srgbClr val="26215C"/>
                </a:solidFill>
                <a:latin typeface="Segoe UI"/>
              </a:defRPr>
            </a:pPr>
            <a:r>
              <a:t>6,142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59536" y="4498848"/>
            <a:ext cx="30540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66758A"/>
                </a:solidFill>
                <a:latin typeface="Segoe UI"/>
              </a:defRPr>
            </a:pPr>
            <a:r>
              <a:t>Training rows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3657600"/>
            <a:ext cx="3456432" cy="1261872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4562855" y="3794760"/>
            <a:ext cx="305409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300" b="1">
                <a:solidFill>
                  <a:srgbClr val="26215C"/>
                </a:solidFill>
                <a:latin typeface="Segoe UI"/>
              </a:defRPr>
            </a:pPr>
            <a:r>
              <a:t>1,471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562855" y="4498848"/>
            <a:ext cx="30540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66758A"/>
                </a:solidFill>
                <a:latin typeface="Segoe UI"/>
              </a:defRPr>
            </a:pPr>
            <a:r>
              <a:t>Held-out rows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8" y="3657600"/>
            <a:ext cx="3456432" cy="1261872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8266176" y="3794760"/>
            <a:ext cx="305409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300" b="1">
                <a:solidFill>
                  <a:srgbClr val="26215C"/>
                </a:solidFill>
                <a:latin typeface="Segoe UI"/>
              </a:defRPr>
            </a:pPr>
            <a:r>
              <a:t>3 folds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266176" y="4498848"/>
            <a:ext cx="30540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66758A"/>
                </a:solidFill>
                <a:latin typeface="Segoe UI"/>
              </a:defRPr>
            </a:pPr>
            <a:r>
              <a:t>Grouped training CV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31520" y="52120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Seed 42. Normalized duplicate texts stay together. Select the highest training CV disaster F1.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715000"/>
            <a:ext cx="10863072" cy="448056"/>
          </a:xfrm>
          <a:prstGeom prst="rect">
            <a:avLst/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26215C"/>
                </a:solidFill>
                <a:latin typeface="Segoe UI"/>
              </a:defRPr>
            </a:pPr>
            <a:r>
              <a:t>The holdout is 19.32% of the data. It evaluates the selected model and does not drive selection.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2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66758A"/>
                </a:solidFill>
                <a:latin typeface="Segoe UI"/>
              </a:defRPr>
            </a:pPr>
            <a:r>
              <a:t>08 / VERIFIED MODEL PERFORMANCE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26215C"/>
                </a:solidFill>
                <a:latin typeface="Segoe UI"/>
              </a:defRPr>
            </a:pPr>
            <a:r>
              <a:t>Character TF-IDF leads the comparison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58368" y="1645920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1">
                <a:solidFill>
                  <a:srgbClr val="26215C"/>
                </a:solidFill>
                <a:latin typeface="Segoe UI"/>
              </a:defRPr>
            </a:pPr>
            <a:r>
              <a:t>Disaster-class F1 by model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286000"/>
          <a:ext cx="69951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1554480"/>
                <a:gridCol w="1554480"/>
              </a:tblGrid>
              <a:tr h="45066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marL="109728" anchor="ctr"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CV F1</a:t>
                      </a:r>
                    </a:p>
                  </a:txBody>
                  <a:tcPr marL="109728" anchor="ctr"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Holdout F1</a:t>
                      </a:r>
                    </a:p>
                  </a:txBody>
                  <a:tcPr marL="109728" anchor="ctr">
                    <a:solidFill>
                      <a:srgbClr val="534AB7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Naive Bayes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71.55%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70.53%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Logistic regression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73.36%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73.85%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Linear SVC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73.30%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73.63%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57.12%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58.66%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450668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Logistic + structure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73.47%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74.33%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</a:tr>
              <a:tr h="4506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Logistic + character</a:t>
                      </a:r>
                    </a:p>
                  </a:txBody>
                  <a:tcPr marL="109728" anchor="ctr"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75.30%</a:t>
                      </a:r>
                    </a:p>
                  </a:txBody>
                  <a:tcPr marL="109728" anchor="ctr"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6215C"/>
                          </a:solidFill>
                          <a:latin typeface="Segoe UI"/>
                        </a:defRPr>
                      </a:pPr>
                      <a:r>
                        <a:t>75.02%</a:t>
                      </a:r>
                    </a:p>
                  </a:txBody>
                  <a:tcPr marL="109728" anchor="ctr">
                    <a:solidFill>
                      <a:srgbClr val="EEEDF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0" y="1783080"/>
            <a:ext cx="3291840" cy="1261872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8430768" y="1920240"/>
            <a:ext cx="288950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300" b="1">
                <a:solidFill>
                  <a:srgbClr val="26215C"/>
                </a:solidFill>
                <a:latin typeface="Segoe UI"/>
              </a:defRPr>
            </a:pPr>
            <a:r>
              <a:t>81.31%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430768" y="2624328"/>
            <a:ext cx="28895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66758A"/>
                </a:solidFill>
                <a:latin typeface="Segoe UI"/>
              </a:defRPr>
            </a:pPr>
            <a:r>
              <a:t>Holdout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91840"/>
            <a:ext cx="3291840" cy="1261872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8430768" y="3429000"/>
            <a:ext cx="288950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300" b="1">
                <a:solidFill>
                  <a:srgbClr val="26215C"/>
                </a:solidFill>
                <a:latin typeface="Segoe UI"/>
              </a:defRPr>
            </a:pPr>
            <a:r>
              <a:t>75.02%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430768" y="4133088"/>
            <a:ext cx="28895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0">
                <a:solidFill>
                  <a:srgbClr val="66758A"/>
                </a:solidFill>
                <a:latin typeface="Segoe UI"/>
              </a:defRPr>
            </a:pPr>
            <a:r>
              <a:t>Holdout disaster F1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275320" y="4983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1">
                <a:solidFill>
                  <a:srgbClr val="26215C"/>
                </a:solidFill>
                <a:latin typeface="Segoe UI"/>
              </a:defRPr>
            </a:pPr>
            <a:r>
              <a:t>ROC-AUC  0.8764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715000"/>
            <a:ext cx="10863072" cy="448056"/>
          </a:xfrm>
          <a:prstGeom prst="rect">
            <a:avLst/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26215C"/>
                </a:solidFill>
                <a:latin typeface="Segoe UI"/>
              </a:defRPr>
            </a:pPr>
            <a:r>
              <a:t>The saved model scores 75.30% CV F1. Holdout performance comes from 1,471 unseen partition rows.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66758A"/>
                </a:solidFill>
                <a:latin typeface="Segoe UI"/>
              </a:defRPr>
            </a:pPr>
            <a:r>
              <a:t>09 / CONFUSION MATRIX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26215C"/>
                </a:solidFill>
                <a:latin typeface="Segoe UI"/>
              </a:defRPr>
            </a:pPr>
            <a:r>
              <a:t>Errors reveal the cost of missed signals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2194560" y="160020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00" b="1">
                <a:solidFill>
                  <a:srgbClr val="66758A"/>
                </a:solidFill>
                <a:latin typeface="Segoe UI"/>
              </a:defRPr>
            </a:pPr>
            <a:r>
              <a:t>PREDICTED LABEL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2011680" y="20574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1">
                <a:solidFill>
                  <a:srgbClr val="27364B"/>
                </a:solidFill>
                <a:latin typeface="Segoe UI"/>
              </a:defRPr>
            </a:pPr>
            <a:r>
              <a:t>Non-disaster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480560" y="20574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700" b="1">
                <a:solidFill>
                  <a:srgbClr val="27364B"/>
                </a:solidFill>
                <a:latin typeface="Segoe UI"/>
              </a:defRPr>
            </a:pPr>
            <a:r>
              <a:t>Disaster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31520" y="2880360"/>
            <a:ext cx="1143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 b="0">
                <a:solidFill>
                  <a:srgbClr val="66758A"/>
                </a:solidFill>
                <a:latin typeface="Segoe UI"/>
              </a:defRPr>
            </a:pPr>
            <a:r>
              <a:t>Actual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 b="0">
                <a:solidFill>
                  <a:srgbClr val="66758A"/>
                </a:solidFill>
                <a:latin typeface="Segoe UI"/>
              </a:defRPr>
            </a:pPr>
            <a:r>
              <a:t>non-disaster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31520" y="4389120"/>
            <a:ext cx="1143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 b="0">
                <a:solidFill>
                  <a:srgbClr val="66758A"/>
                </a:solidFill>
                <a:latin typeface="Segoe UI"/>
              </a:defRPr>
            </a:pPr>
            <a:r>
              <a:t>Actual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 b="0">
                <a:solidFill>
                  <a:srgbClr val="66758A"/>
                </a:solidFill>
                <a:latin typeface="Segoe UI"/>
              </a:defRPr>
            </a:pPr>
            <a:r>
              <a:t>disaster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606040"/>
            <a:ext cx="2194560" cy="1207008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2194560" y="273405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400" b="1">
                <a:solidFill>
                  <a:srgbClr val="26215C"/>
                </a:solidFill>
                <a:latin typeface="Segoe UI"/>
              </a:defRPr>
            </a:pPr>
            <a:r>
              <a:t>783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194560" y="34381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 b="0">
                <a:solidFill>
                  <a:srgbClr val="27364B"/>
                </a:solidFill>
                <a:latin typeface="Segoe UI"/>
              </a:defRPr>
            </a:pPr>
            <a:r>
              <a:t>Correct rejection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606040"/>
            <a:ext cx="2194560" cy="1207008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4663440" y="273405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400" b="1">
                <a:solidFill>
                  <a:srgbClr val="26215C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663440" y="34381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 b="0">
                <a:solidFill>
                  <a:srgbClr val="27364B"/>
                </a:solidFill>
                <a:latin typeface="Segoe UI"/>
              </a:defRPr>
            </a:pPr>
            <a:r>
              <a:t>False positive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4069080"/>
            <a:ext cx="2194560" cy="1207008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2194560" y="41970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400" b="1">
                <a:solidFill>
                  <a:srgbClr val="26215C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219456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 b="0">
                <a:solidFill>
                  <a:srgbClr val="27364B"/>
                </a:solidFill>
                <a:latin typeface="Segoe UI"/>
              </a:defRPr>
            </a:pPr>
            <a:r>
              <a:t>False negative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4069080"/>
            <a:ext cx="2194560" cy="1207008"/>
          </a:xfrm>
          <a:prstGeom prst="roundRect">
            <a:avLst>
              <a:gd name="adj" fmla="val 6000"/>
            </a:avLst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4663440" y="41970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400" b="1">
                <a:solidFill>
                  <a:srgbClr val="26215C"/>
                </a:solidFill>
                <a:latin typeface="Segoe UI"/>
              </a:defRPr>
            </a:pPr>
            <a:r>
              <a:t>413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66344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 b="0">
                <a:solidFill>
                  <a:srgbClr val="27364B"/>
                </a:solidFill>
                <a:latin typeface="Segoe UI"/>
              </a:defRPr>
            </a:pPr>
            <a:r>
              <a:t>Correct detection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406640" y="178308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400" b="1">
                <a:solidFill>
                  <a:srgbClr val="26215C"/>
                </a:solidFill>
                <a:latin typeface="Segoe UI"/>
              </a:defRPr>
            </a:pPr>
            <a:r>
              <a:t>275 incorrect predictions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7406640" y="2743200"/>
            <a:ext cx="4069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0">
                <a:solidFill>
                  <a:srgbClr val="27364B"/>
                </a:solidFill>
                <a:latin typeface="Segoe UI"/>
              </a:defRPr>
            </a:pPr>
            <a:r>
              <a:t>83.77% disaster precision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2100" b="0">
                <a:solidFill>
                  <a:srgbClr val="27364B"/>
                </a:solidFill>
                <a:latin typeface="Segoe UI"/>
              </a:defRPr>
            </a:pPr>
            <a:r>
              <a:t>67.93% disaster recall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7406640" y="4160520"/>
            <a:ext cx="39776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27364B"/>
                </a:solidFill>
                <a:latin typeface="Segoe UI"/>
              </a:defRPr>
            </a:pPr>
            <a:r>
              <a:t>195 missed disaster tweets exceed the 80 false alarms. Human review remains necessary.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715000"/>
            <a:ext cx="10863072" cy="448056"/>
          </a:xfrm>
          <a:prstGeom prst="rect">
            <a:avLst/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26215C"/>
                </a:solidFill>
                <a:latin typeface="Segoe UI"/>
              </a:defRPr>
            </a:pPr>
            <a:r>
              <a:t>These are historical dataset labels. They do not establish whether a real incident occurred.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2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66758A"/>
                </a:solidFill>
                <a:latin typeface="Segoe UI"/>
              </a:defRPr>
            </a:pPr>
            <a:r>
              <a:t>10 / APPLICATION AND PREDICTION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26215C"/>
                </a:solidFill>
                <a:latin typeface="Segoe UI"/>
              </a:defRPr>
            </a:pPr>
            <a:r>
              <a:t>The application makes evidence reviewable</a:t>
            </a:r>
          </a:p>
        </p:txBody>
      </p:sp>
      <p:pic>
        <p:nvPicPr>
          <p:cNvPr id="8" name="Picture 7" descr="restored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00200"/>
            <a:ext cx="6583680" cy="457200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7772400" y="164592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300" b="1">
                <a:solidFill>
                  <a:srgbClr val="26215C"/>
                </a:solidFill>
                <a:latin typeface="Segoe UI"/>
              </a:defRPr>
            </a:pPr>
            <a:r>
              <a:t>Seven connected pages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772400" y="2240280"/>
            <a:ext cx="3749039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Dashboard and Data Explorer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Tweet Analyzer and Model Lab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Prediction Explorer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Performance and Reports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772400" y="3977639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300" b="1">
                <a:solidFill>
                  <a:srgbClr val="26215C"/>
                </a:solidFill>
                <a:latin typeface="Segoe UI"/>
              </a:defRPr>
            </a:pPr>
            <a:r>
              <a:t>Prediction workflow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772400" y="4572000"/>
            <a:ext cx="37033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Paste text or upload CSV/XLSX.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Run the saved pipeline.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Inspect explanations and status.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27364B"/>
                </a:solidFill>
                <a:latin typeface="Segoe UI"/>
              </a:defRPr>
            </a:pPr>
            <a:r>
              <a:t>Export filtered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66758A"/>
                </a:solidFill>
                <a:latin typeface="Segoe UI"/>
              </a:defRPr>
            </a:pPr>
            <a:r>
              <a:t>11 / THE PROJECT STORY</a:t>
            </a: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26215C"/>
                </a:solidFill>
                <a:latin typeface="Segoe UI"/>
              </a:defRPr>
            </a:pPr>
            <a:r>
              <a:t>Useful signals still need human judgment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3657600" cy="452628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960120" y="193852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200" b="1">
                <a:solidFill>
                  <a:srgbClr val="EEEDFE"/>
                </a:solidFill>
                <a:latin typeface="Segoe UI"/>
              </a:defRPr>
            </a:pPr>
            <a:r>
              <a:t>ACTUAL HOLDOUT EXAMPLE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60120" y="2761488"/>
            <a:ext cx="3017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500" b="0">
                <a:solidFill>
                  <a:srgbClr val="FFFFFF"/>
                </a:solidFill>
                <a:latin typeface="Georgia"/>
              </a:defRPr>
            </a:pPr>
            <a:r>
              <a:t>“13,000 people receive #wildfires evacuation orders in California”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60120" y="539496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EEEDFE"/>
                </a:solidFill>
                <a:latin typeface="Segoe UI"/>
              </a:defRPr>
            </a:pPr>
            <a:r>
              <a:t>ID 6: predicted disaster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EEEDFE"/>
                </a:solidFill>
                <a:latin typeface="Segoe UI"/>
              </a:defRPr>
            </a:pPr>
            <a:r>
              <a:t>Correct against dataset label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892040" y="178308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800" b="1">
                <a:solidFill>
                  <a:srgbClr val="26215C"/>
                </a:solidFill>
                <a:latin typeface="Segoe UI"/>
              </a:defRPr>
            </a:pPr>
            <a:r>
              <a:t>Classification organizes the message stream.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892040" y="2880360"/>
            <a:ext cx="6309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0">
                <a:solidFill>
                  <a:srgbClr val="27364B"/>
                </a:solidFill>
                <a:latin typeface="Segoe UI"/>
              </a:defRPr>
            </a:pPr>
            <a:r>
              <a:t>The same model correctly labels “I love fruits” as non-disaster (ID 24). These examples show separation, not guaranteed reliability.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892040" y="4526280"/>
            <a:ext cx="63093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100" b="0">
                <a:solidFill>
                  <a:srgbClr val="27364B"/>
                </a:solidFill>
                <a:latin typeface="Segoe UI"/>
              </a:defRPr>
            </a:pPr>
            <a:r>
              <a:t>Limits: historical English tweets, missing context and uncalibrated estimates. Missed disaster messages require particular attention.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85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accent strip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Section label"/>
          <p:cNvSpPr txBox="1"/>
          <p:nvPr/>
        </p:nvSpPr>
        <p:spPr>
          <a:xfrm>
            <a:off x="658368" y="292608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4" name="Slide title"/>
          <p:cNvSpPr txBox="1"/>
          <p:nvPr/>
        </p:nvSpPr>
        <p:spPr>
          <a:xfrm>
            <a:off x="658368" y="694944"/>
            <a:ext cx="10744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The next step is stronger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6032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941832" y="228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DISASTERSENSEAI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4937760"/>
            <a:ext cx="1188720" cy="1188720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0" y="502920"/>
            <a:ext cx="594360" cy="594360"/>
          </a:xfrm>
          <a:prstGeom prst="ellipse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 txBox="1"/>
          <p:nvPr/>
        </p:nvSpPr>
        <p:spPr>
          <a:xfrm>
            <a:off x="731520" y="169164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FUTURE DEVELOPMENT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31520" y="242316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2500" b="0">
                <a:solidFill>
                  <a:srgbClr val="FFFFFF"/>
                </a:solidFill>
                <a:latin typeface="Segoe UI"/>
              </a:defRPr>
            </a:pPr>
            <a:r>
              <a:t>External and temporal validation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2500" b="0">
                <a:solidFill>
                  <a:srgbClr val="FFFFFF"/>
                </a:solidFill>
                <a:latin typeface="Segoe UI"/>
              </a:defRPr>
            </a:pPr>
            <a:r>
              <a:t>Calibrated confidence and explanation testing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2500" b="0">
                <a:solidFill>
                  <a:srgbClr val="FFFFFF"/>
                </a:solidFill>
                <a:latin typeface="Segoe UI"/>
              </a:defRPr>
            </a:pPr>
            <a:r>
              <a:t>Multilingual evaluation and human feedback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31520" y="429768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Proposed next steps; these capabilities are not yet implemented.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743200" y="516636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700"/>
              </a:spcAft>
              <a:defRPr sz="3800" b="1">
                <a:solidFill>
                  <a:srgbClr val="FFFFFF"/>
                </a:solidFill>
                <a:latin typeface="Segoe UI"/>
              </a:defRPr>
            </a:pPr>
            <a:r>
              <a:t>DisasterSenseAI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743200" y="589788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700"/>
              </a:spcAft>
              <a:defRPr sz="2100" b="0">
                <a:solidFill>
                  <a:srgbClr val="FFFFFF"/>
                </a:solidFill>
                <a:latin typeface="Segoe UI"/>
              </a:defRPr>
            </a:pPr>
            <a:r>
              <a:t>Presented by Nitesh Ramdas Dahiwale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DisasterSenseAI | 12-slide reference design</dc:title>
  <dc:subject/>
  <dc:creator>Nitesh Ramdas Dahiwale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